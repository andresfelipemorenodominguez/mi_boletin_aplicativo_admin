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E91E8C">
              <a:alpha val="12156"/>
            </a:srgbClr>
          </a:solidFill>
          <a:ln cap="flat" cmpd="sng" w="12700">
            <a:solidFill>
              <a:srgbClr val="E91E8C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097280" y="2286000"/>
            <a:ext cx="3200400" cy="3200400"/>
          </a:xfrm>
          <a:prstGeom prst="ellipse">
            <a:avLst/>
          </a:prstGeom>
          <a:solidFill>
            <a:srgbClr val="E91E8C">
              <a:alpha val="7843"/>
            </a:srgbClr>
          </a:solidFill>
          <a:ln cap="flat" cmpd="sng" w="12700">
            <a:solidFill>
              <a:srgbClr val="E91E8C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" y="914400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 Black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KLIC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CB8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5CB8"/>
                </a:solidFill>
                <a:latin typeface="Calibri"/>
                <a:ea typeface="Calibri"/>
                <a:cs typeface="Calibri"/>
                <a:sym typeface="Calibri"/>
              </a:rPr>
              <a:t>el sonido de encajar con alguien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474720" y="3383280"/>
            <a:ext cx="2194560" cy="36576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Red social · Smash or Pass · Video Chat · Contenido Premium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¿Qué es Klic?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48640" y="1051560"/>
            <a:ext cx="1097280" cy="45720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48640" y="123444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Klic es una red social para mayores de edad que combina interacción social, entretenimiento y monetización en una sola plataforma.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2377440"/>
            <a:ext cx="5120640" cy="1737360"/>
          </a:xfrm>
          <a:prstGeom prst="rect">
            <a:avLst/>
          </a:prstGeom>
          <a:solidFill>
            <a:srgbClr val="1E1E2A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31520" y="25146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E91E8C"/>
                </a:solidFill>
                <a:latin typeface="Arial Black"/>
                <a:ea typeface="Arial Black"/>
                <a:cs typeface="Arial Black"/>
                <a:sym typeface="Arial Black"/>
              </a:rPr>
              <a:t>"Klic"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31520" y="297180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Es el sonido exacto de cuando encajas con alguien. Corto, eléctrico y moderno — una sola sílaba que define ese chispazo que no necesita explicación.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400800" y="1097280"/>
            <a:ext cx="2286000" cy="2286000"/>
          </a:xfrm>
          <a:prstGeom prst="ellipse">
            <a:avLst/>
          </a:prstGeom>
          <a:solidFill>
            <a:srgbClr val="E91E8C">
              <a:alpha val="14901"/>
            </a:srgbClr>
          </a:solidFill>
          <a:ln cap="flat" cmpd="sng" w="12700">
            <a:solidFill>
              <a:srgbClr val="E91E8C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400800" y="1097280"/>
            <a:ext cx="2286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Funcionalidades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548640" y="1051560"/>
            <a:ext cx="1463040" cy="45720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502920" y="1280160"/>
            <a:ext cx="3931920" cy="1600200"/>
          </a:xfrm>
          <a:prstGeom prst="rect">
            <a:avLst/>
          </a:prstGeom>
          <a:solidFill>
            <a:srgbClr val="16161E"/>
          </a:solidFill>
          <a:ln cap="flat" cmpd="sng" w="12700">
            <a:solidFill>
              <a:srgbClr val="2A2A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🔥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1325880" y="144475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Smash or Pass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325880" y="1847088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Vota perfiles de otros usuarios. Si hay match mutuo, se conectan automáticamente.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02920" y="1280160"/>
            <a:ext cx="54864" cy="1600200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4846320" y="1280160"/>
            <a:ext cx="3931920" cy="1600200"/>
          </a:xfrm>
          <a:prstGeom prst="rect">
            <a:avLst/>
          </a:prstGeom>
          <a:solidFill>
            <a:srgbClr val="16161E"/>
          </a:solidFill>
          <a:ln cap="flat" cmpd="sng" w="12700">
            <a:solidFill>
              <a:srgbClr val="2A2A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4983480" y="1463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📹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669280" y="144475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Chat Aleatorio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669280" y="1847088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Conéctate con personas en tiempo real, estilo Omegle, con cámara en vivo.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846320" y="1280160"/>
            <a:ext cx="54864" cy="1600200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502920" y="3108960"/>
            <a:ext cx="3931920" cy="1600200"/>
          </a:xfrm>
          <a:prstGeom prst="rect">
            <a:avLst/>
          </a:prstGeom>
          <a:solidFill>
            <a:srgbClr val="16161E"/>
          </a:solidFill>
          <a:ln cap="flat" cmpd="sng" w="12700">
            <a:solidFill>
              <a:srgbClr val="2A2A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40080" y="32918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💎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325880" y="327355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Contenido Premium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325880" y="3675888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Los creadores suben fotos exclusivas y cobran por ellas. Klic toma una comisión.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02920" y="3108960"/>
            <a:ext cx="54864" cy="1600200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846320" y="3108960"/>
            <a:ext cx="3931920" cy="1600200"/>
          </a:xfrm>
          <a:prstGeom prst="rect">
            <a:avLst/>
          </a:prstGeom>
          <a:solidFill>
            <a:srgbClr val="16161E"/>
          </a:solidFill>
          <a:ln cap="flat" cmpd="sng" w="12700">
            <a:solidFill>
              <a:srgbClr val="2A2A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983480" y="32918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669280" y="327355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 entre Matches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669280" y="3675888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Una vez que hay match, los usuarios pueden chatear directamente en la app.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846320" y="3108960"/>
            <a:ext cx="54864" cy="1600200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Diseño de Pantallas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457200" y="1234440"/>
            <a:ext cx="1737360" cy="2926080"/>
          </a:xfrm>
          <a:prstGeom prst="roundRect">
            <a:avLst>
              <a:gd fmla="val 7895" name="adj"/>
            </a:avLst>
          </a:prstGeom>
          <a:solidFill>
            <a:srgbClr val="1E1E2A"/>
          </a:solidFill>
          <a:ln cap="flat" cmpd="sng" w="1905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457200" y="137160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57200" y="20116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594360" y="2468880"/>
            <a:ext cx="1463040" cy="320040"/>
          </a:xfrm>
          <a:prstGeom prst="rect">
            <a:avLst/>
          </a:prstGeom>
          <a:solidFill>
            <a:srgbClr val="222233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594360" y="24688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Email + contraseña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94360" y="2926080"/>
            <a:ext cx="1463040" cy="320040"/>
          </a:xfrm>
          <a:prstGeom prst="rect">
            <a:avLst/>
          </a:prstGeom>
          <a:solidFill>
            <a:srgbClr val="222233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594360" y="29260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Acceso seguro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94360" y="3383280"/>
            <a:ext cx="1463040" cy="320040"/>
          </a:xfrm>
          <a:prstGeom prst="rect">
            <a:avLst/>
          </a:prstGeom>
          <a:solidFill>
            <a:srgbClr val="222233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594360" y="33832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Enlace a registro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2578608" y="1234440"/>
            <a:ext cx="1737360" cy="2926080"/>
          </a:xfrm>
          <a:prstGeom prst="roundRect">
            <a:avLst>
              <a:gd fmla="val 7895" name="adj"/>
            </a:avLst>
          </a:prstGeom>
          <a:solidFill>
            <a:srgbClr val="1E1E2A"/>
          </a:solidFill>
          <a:ln cap="flat" cmpd="sng" w="1905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2578608" y="137160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🔥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2578608" y="20116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Smash or 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2715768" y="2468880"/>
            <a:ext cx="1463040" cy="320040"/>
          </a:xfrm>
          <a:prstGeom prst="rect">
            <a:avLst/>
          </a:prstGeom>
          <a:solidFill>
            <a:srgbClr val="222233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2715768" y="24688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Foto del usuario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715768" y="2926080"/>
            <a:ext cx="1463040" cy="320040"/>
          </a:xfrm>
          <a:prstGeom prst="rect">
            <a:avLst/>
          </a:prstGeom>
          <a:solidFill>
            <a:srgbClr val="222233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2715768" y="29260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Botones Smash / Pass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715768" y="3383280"/>
            <a:ext cx="1463040" cy="320040"/>
          </a:xfrm>
          <a:prstGeom prst="rect">
            <a:avLst/>
          </a:prstGeom>
          <a:solidFill>
            <a:srgbClr val="222233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2715768" y="33832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Notificación de match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700016" y="1234440"/>
            <a:ext cx="1737360" cy="2926080"/>
          </a:xfrm>
          <a:prstGeom prst="roundRect">
            <a:avLst>
              <a:gd fmla="val 7895" name="adj"/>
            </a:avLst>
          </a:prstGeom>
          <a:solidFill>
            <a:srgbClr val="1E1E2A"/>
          </a:solidFill>
          <a:ln cap="flat" cmpd="sng" w="1905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700016" y="137160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📹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700016" y="20116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Video Chat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837176" y="2468880"/>
            <a:ext cx="1463040" cy="320040"/>
          </a:xfrm>
          <a:prstGeom prst="rect">
            <a:avLst/>
          </a:prstGeom>
          <a:solidFill>
            <a:srgbClr val="222233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837176" y="24688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Cámara en vivo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837176" y="2926080"/>
            <a:ext cx="1463040" cy="320040"/>
          </a:xfrm>
          <a:prstGeom prst="rect">
            <a:avLst/>
          </a:prstGeom>
          <a:solidFill>
            <a:srgbClr val="222233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837176" y="29260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Botón Colgar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837176" y="3383280"/>
            <a:ext cx="1463040" cy="320040"/>
          </a:xfrm>
          <a:prstGeom prst="rect">
            <a:avLst/>
          </a:prstGeom>
          <a:solidFill>
            <a:srgbClr val="222233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837176" y="33832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Chat aleatorio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821424" y="1234440"/>
            <a:ext cx="1737360" cy="2926080"/>
          </a:xfrm>
          <a:prstGeom prst="roundRect">
            <a:avLst>
              <a:gd fmla="val 7895" name="adj"/>
            </a:avLst>
          </a:prstGeom>
          <a:solidFill>
            <a:srgbClr val="1E1E2A"/>
          </a:solidFill>
          <a:ln cap="flat" cmpd="sng" w="1905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6821424" y="137160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821424" y="20116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Perfil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958584" y="2468880"/>
            <a:ext cx="1463040" cy="320040"/>
          </a:xfrm>
          <a:prstGeom prst="rect">
            <a:avLst/>
          </a:prstGeom>
          <a:solidFill>
            <a:srgbClr val="222233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958584" y="24688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Foto de perfil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958584" y="2926080"/>
            <a:ext cx="1463040" cy="320040"/>
          </a:xfrm>
          <a:prstGeom prst="rect">
            <a:avLst/>
          </a:prstGeom>
          <a:solidFill>
            <a:srgbClr val="222233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958584" y="29260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Configuración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958584" y="3383280"/>
            <a:ext cx="1463040" cy="320040"/>
          </a:xfrm>
          <a:prstGeom prst="rect">
            <a:avLst/>
          </a:prstGeom>
          <a:solidFill>
            <a:srgbClr val="222233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958584" y="33832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Lista de amigos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Modelo de Negocio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48640" y="1051560"/>
            <a:ext cx="1645920" cy="45720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548640" y="1325880"/>
            <a:ext cx="8046720" cy="1051560"/>
          </a:xfrm>
          <a:prstGeom prst="rect">
            <a:avLst/>
          </a:prstGeom>
          <a:solidFill>
            <a:srgbClr val="16161E"/>
          </a:solidFill>
          <a:ln cap="flat" cmpd="sng" w="12700">
            <a:solidFill>
              <a:srgbClr val="22223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685800" y="141732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E91E8C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417320" y="141732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Comisión por contenido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417320" y="1783080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Klic cobra un % de cada venta de contenido premium entre creador y usuario.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48640" y="1325880"/>
            <a:ext cx="54864" cy="1051560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548640" y="2560320"/>
            <a:ext cx="8046720" cy="1051560"/>
          </a:xfrm>
          <a:prstGeom prst="rect">
            <a:avLst/>
          </a:prstGeom>
          <a:solidFill>
            <a:srgbClr val="16161E"/>
          </a:solidFill>
          <a:ln cap="flat" cmpd="sng" w="12700">
            <a:solidFill>
              <a:srgbClr val="22223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85800" y="265176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E91E8C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417320" y="265176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Suscripciones Premium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417320" y="3017520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Plan de pago para desbloquear funciones exclusivas: ver más perfiles, sin anuncios.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48640" y="2560320"/>
            <a:ext cx="54864" cy="1051560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48640" y="3794760"/>
            <a:ext cx="8046720" cy="1051560"/>
          </a:xfrm>
          <a:prstGeom prst="rect">
            <a:avLst/>
          </a:prstGeom>
          <a:solidFill>
            <a:srgbClr val="16161E"/>
          </a:solidFill>
          <a:ln cap="flat" cmpd="sng" w="12700">
            <a:solidFill>
              <a:srgbClr val="22223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685800" y="388620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E91E8C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417320" y="388620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Coins / Moneda interna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417320" y="4251960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Los usuarios compran monedas para regalar a creadores o desbloquear contenido.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48640" y="3794760"/>
            <a:ext cx="54864" cy="1051560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Stack Tecnológico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48640" y="1051560"/>
            <a:ext cx="1554480" cy="45720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502920" y="1280160"/>
            <a:ext cx="2697480" cy="1463040"/>
          </a:xfrm>
          <a:prstGeom prst="rect">
            <a:avLst/>
          </a:prstGeom>
          <a:solidFill>
            <a:srgbClr val="16161E"/>
          </a:solidFill>
          <a:ln cap="flat" cmpd="sng" w="12700">
            <a:solidFill>
              <a:srgbClr val="2A2A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502920" y="13716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94360" y="18745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App Móvil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94360" y="219456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React Native + Expo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410712" y="1280160"/>
            <a:ext cx="2697480" cy="1463040"/>
          </a:xfrm>
          <a:prstGeom prst="rect">
            <a:avLst/>
          </a:prstGeom>
          <a:solidFill>
            <a:srgbClr val="16161E"/>
          </a:solidFill>
          <a:ln cap="flat" cmpd="sng" w="12700">
            <a:solidFill>
              <a:srgbClr val="2A2A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3410712" y="13716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502152" y="18745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3502152" y="219456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Supabase (PostgreSQL)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318504" y="1280160"/>
            <a:ext cx="2697480" cy="1463040"/>
          </a:xfrm>
          <a:prstGeom prst="rect">
            <a:avLst/>
          </a:prstGeom>
          <a:solidFill>
            <a:srgbClr val="16161E"/>
          </a:solidFill>
          <a:ln cap="flat" cmpd="sng" w="12700">
            <a:solidFill>
              <a:srgbClr val="2A2A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6318504" y="13716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409944" y="18745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Autenticación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409944" y="219456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Supabase Auth + JWT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02920" y="2971800"/>
            <a:ext cx="2697480" cy="1463040"/>
          </a:xfrm>
          <a:prstGeom prst="rect">
            <a:avLst/>
          </a:prstGeom>
          <a:solidFill>
            <a:srgbClr val="16161E"/>
          </a:solidFill>
          <a:ln cap="flat" cmpd="sng" w="12700">
            <a:solidFill>
              <a:srgbClr val="2A2A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502920" y="306324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☁️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94360" y="356616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Almacenamiento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94360" y="38862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Supabase Storage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410712" y="2971800"/>
            <a:ext cx="2697480" cy="1463040"/>
          </a:xfrm>
          <a:prstGeom prst="rect">
            <a:avLst/>
          </a:prstGeom>
          <a:solidFill>
            <a:srgbClr val="16161E"/>
          </a:solidFill>
          <a:ln cap="flat" cmpd="sng" w="12700">
            <a:solidFill>
              <a:srgbClr val="2A2A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3410712" y="306324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📹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502152" y="356616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Video en Tiempo Real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502152" y="38862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WebRTC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318504" y="2971800"/>
            <a:ext cx="2697480" cy="1463040"/>
          </a:xfrm>
          <a:prstGeom prst="rect">
            <a:avLst/>
          </a:prstGeom>
          <a:solidFill>
            <a:srgbClr val="16161E"/>
          </a:solidFill>
          <a:ln cap="flat" cmpd="sng" w="12700">
            <a:solidFill>
              <a:srgbClr val="2A2A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6318504" y="306324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409944" y="356616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Pagos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409944" y="38862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Stripe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Roadmap de Desarrollo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48640" y="1051560"/>
            <a:ext cx="2011680" cy="45720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914400" y="2377440"/>
            <a:ext cx="7498080" cy="45720"/>
          </a:xfrm>
          <a:prstGeom prst="rect">
            <a:avLst/>
          </a:prstGeom>
          <a:solidFill>
            <a:srgbClr val="333344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1463040" y="2176272"/>
            <a:ext cx="402336" cy="402336"/>
          </a:xfrm>
          <a:prstGeom prst="ellipse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48640" y="1371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48640" y="16916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MVP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48640" y="2788920"/>
            <a:ext cx="2697480" cy="1737360"/>
          </a:xfrm>
          <a:prstGeom prst="rect">
            <a:avLst/>
          </a:prstGeom>
          <a:solidFill>
            <a:srgbClr val="1E1E2A"/>
          </a:solidFill>
          <a:ln cap="flat" cmpd="sng" w="12700">
            <a:solidFill>
              <a:srgbClr val="2A2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685800" y="29260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Auth &amp; Registro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85800" y="3401568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Smash or Pass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85800" y="3877056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Subida de fotos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160520" y="2176272"/>
            <a:ext cx="402336" cy="402336"/>
          </a:xfrm>
          <a:prstGeom prst="ellipse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3246120" y="1371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3246120" y="16916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Social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3246120" y="2788920"/>
            <a:ext cx="2697480" cy="1737360"/>
          </a:xfrm>
          <a:prstGeom prst="rect">
            <a:avLst/>
          </a:prstGeom>
          <a:solidFill>
            <a:srgbClr val="1E1E2A"/>
          </a:solidFill>
          <a:ln cap="flat" cmpd="sng" w="12700">
            <a:solidFill>
              <a:srgbClr val="2A2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3383280" y="29260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Chat entre matches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3383280" y="3401568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Video Chat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3383280" y="3877056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Notificaciones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858000" y="2176272"/>
            <a:ext cx="402336" cy="402336"/>
          </a:xfrm>
          <a:prstGeom prst="ellipse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5943600" y="1371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943600" y="16916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Monetización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943600" y="2788920"/>
            <a:ext cx="2697480" cy="1737360"/>
          </a:xfrm>
          <a:prstGeom prst="rect">
            <a:avLst/>
          </a:prstGeom>
          <a:solidFill>
            <a:srgbClr val="1E1E2A"/>
          </a:solidFill>
          <a:ln cap="flat" cmpd="sng" w="12700">
            <a:solidFill>
              <a:srgbClr val="2A2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6080760" y="29260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Contenido premium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080760" y="3401568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Stripe pagos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080760" y="3877056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1E8C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Comisiones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E91E8C">
              <a:alpha val="10196"/>
            </a:srgbClr>
          </a:solidFill>
          <a:ln cap="flat" cmpd="sng" w="12700">
            <a:solidFill>
              <a:srgbClr val="E91E8C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E91E8C">
              <a:alpha val="10196"/>
            </a:srgbClr>
          </a:solidFill>
          <a:ln cap="flat" cmpd="sng" w="12700">
            <a:solidFill>
              <a:srgbClr val="E91E8C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548640" y="73152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 Black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KLIC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48640" y="21031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CB8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FF5CB8"/>
                </a:solidFill>
                <a:latin typeface="Calibri"/>
                <a:ea typeface="Calibri"/>
                <a:cs typeface="Calibri"/>
                <a:sym typeface="Calibri"/>
              </a:rPr>
              <a:t>Una sola sílaba.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CB8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FF5CB8"/>
                </a:solidFill>
                <a:latin typeface="Calibri"/>
                <a:ea typeface="Calibri"/>
                <a:cs typeface="Calibri"/>
                <a:sym typeface="Calibri"/>
              </a:rPr>
              <a:t>Una conexión real.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Desarrollado por Didier Aragón · SENA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